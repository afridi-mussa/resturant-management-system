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3931920"/>
            <a:ext cx="2926080" cy="2926080"/>
          </a:xfrm>
          <a:prstGeom prst="ellipse">
            <a:avLst/>
          </a:prstGeom>
          <a:noFill/>
          <a:ln w="317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0" i="0">
                <a:solidFill>
                  <a:srgbClr val="FFFFFF"/>
                </a:solidFill>
                <a:latin typeface="Segoe UI"/>
              </a:rPr>
              <a:t>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 i="0">
                <a:solidFill>
                  <a:srgbClr val="FFFFFF"/>
                </a:solidFill>
                <a:latin typeface="Segoe UI"/>
              </a:rPr>
              <a:t>BistroSaaS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160520"/>
            <a:ext cx="2743200" cy="914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 i="0">
                <a:solidFill>
                  <a:srgbClr val="D7DEE5"/>
                </a:solidFill>
                <a:latin typeface="Segoe UI"/>
              </a:rPr>
              <a:t>Restaurant Management &amp; Online Ordering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212080"/>
            <a:ext cx="3200400" cy="5029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61320" y="411480"/>
            <a:ext cx="1143000" cy="1143000"/>
          </a:xfrm>
          <a:prstGeom prst="ellipse">
            <a:avLst/>
          </a:prstGeom>
          <a:solidFill>
            <a:srgbClr val="FD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61320" y="457200"/>
            <a:ext cx="11430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0" i="0">
                <a:solidFill>
                  <a:srgbClr val="243140"/>
                </a:solidFill>
                <a:latin typeface="Segoe UI"/>
              </a:rPr>
              <a:t>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96926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1E2A38"/>
                </a:solidFill>
                <a:latin typeface="Segoe UI"/>
              </a:rPr>
              <a:t>Group Members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70432"/>
            <a:ext cx="2286000" cy="82296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Mussa Afridi  -  Backend &amp; Deployment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[ Member 2  -  role ]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[ Member 3  -  role ]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[ Member 4  -  role ]</a:t>
            </a:r>
          </a:p>
          <a:p>
            <a:pPr>
              <a:spcAft>
                <a:spcPts val="1300"/>
              </a:spcAft>
            </a:pPr>
            <a:r>
              <a:rPr sz="1800" b="0" i="0">
                <a:solidFill>
                  <a:srgbClr val="243140"/>
                </a:solidFill>
                <a:latin typeface="Segoe UI"/>
              </a:rPr>
              <a:t> 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Course: ____________     Instructor: ____________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00800"/>
            <a:ext cx="11201400" cy="17780"/>
          </a:xfrm>
          <a:prstGeom prst="rect">
            <a:avLst/>
          </a:prstGeom>
          <a:solidFill>
            <a:srgbClr val="DD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8A97A5"/>
                </a:solidFill>
                <a:latin typeface="Segoe UI"/>
              </a:rPr>
              <a:t>BistroSaaS  |  Restaurant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8A97A5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61320" y="411480"/>
            <a:ext cx="1143000" cy="1143000"/>
          </a:xfrm>
          <a:prstGeom prst="ellipse">
            <a:avLst/>
          </a:prstGeom>
          <a:solidFill>
            <a:srgbClr val="FD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61320" y="457200"/>
            <a:ext cx="11430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0" i="0">
                <a:solidFill>
                  <a:srgbClr val="243140"/>
                </a:solidFill>
                <a:latin typeface="Segoe UI"/>
              </a:rPr>
              <a:t>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96926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1E2A38"/>
                </a:solidFill>
                <a:latin typeface="Segoe UI"/>
              </a:rPr>
              <a:t>Introduction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70432"/>
            <a:ext cx="2286000" cy="82296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A full-stack web application for restaurant ordering &amp; management.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Built with the Django web framework (Python).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Customers browse a menu, place orders, and track status.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Admins manage the menu and confirm orders.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Modern, responsive UI using Bootstrap 5.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00800"/>
            <a:ext cx="11201400" cy="17780"/>
          </a:xfrm>
          <a:prstGeom prst="rect">
            <a:avLst/>
          </a:prstGeom>
          <a:solidFill>
            <a:srgbClr val="DD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8A97A5"/>
                </a:solidFill>
                <a:latin typeface="Segoe UI"/>
              </a:rPr>
              <a:t>BistroSaaS  |  Restaurant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8A97A5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61320" y="411480"/>
            <a:ext cx="1143000" cy="1143000"/>
          </a:xfrm>
          <a:prstGeom prst="ellipse">
            <a:avLst/>
          </a:prstGeom>
          <a:solidFill>
            <a:srgbClr val="FD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61320" y="457200"/>
            <a:ext cx="11430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0" i="0">
                <a:solidFill>
                  <a:srgbClr val="243140"/>
                </a:solidFill>
                <a:latin typeface="Segoe UI"/>
              </a:rPr>
              <a:t>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96926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1E2A38"/>
                </a:solidFill>
                <a:latin typeface="Segoe UI"/>
              </a:rPr>
              <a:t>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70432"/>
            <a:ext cx="2286000" cy="82296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Manual, paper-based order taking causes errors.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No central searchable menu or order records.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Customers cannot view the menu or order online.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Hard to track live order status.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Menu / price / availability updates are slow.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00800"/>
            <a:ext cx="11201400" cy="17780"/>
          </a:xfrm>
          <a:prstGeom prst="rect">
            <a:avLst/>
          </a:prstGeom>
          <a:solidFill>
            <a:srgbClr val="DD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8A97A5"/>
                </a:solidFill>
                <a:latin typeface="Segoe UI"/>
              </a:rPr>
              <a:t>BistroSaaS  |  Restaurant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8A97A5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61320" y="411480"/>
            <a:ext cx="1143000" cy="1143000"/>
          </a:xfrm>
          <a:prstGeom prst="ellipse">
            <a:avLst/>
          </a:prstGeom>
          <a:solidFill>
            <a:srgbClr val="FD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61320" y="457200"/>
            <a:ext cx="11430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0" i="0">
                <a:solidFill>
                  <a:srgbClr val="243140"/>
                </a:solidFill>
                <a:latin typeface="Segoe UI"/>
              </a:rPr>
              <a:t>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96926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1E2A38"/>
                </a:solidFill>
                <a:latin typeface="Segoe UI"/>
              </a:rPr>
              <a:t>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70432"/>
            <a:ext cx="2286000" cy="82296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Secure registration &amp; login (Customer / Admin roles).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Browse menu with search, filter &amp; pagination.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Online order placement + order history.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Admin CRUD on menu items with image uploads.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Order confirmation workflow with notifications.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REST API for menu data + responsive UI.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00800"/>
            <a:ext cx="11201400" cy="17780"/>
          </a:xfrm>
          <a:prstGeom prst="rect">
            <a:avLst/>
          </a:prstGeom>
          <a:solidFill>
            <a:srgbClr val="DD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8A97A5"/>
                </a:solidFill>
                <a:latin typeface="Segoe UI"/>
              </a:rPr>
              <a:t>BistroSaaS  |  Restaurant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8A97A5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61320" y="411480"/>
            <a:ext cx="1143000" cy="1143000"/>
          </a:xfrm>
          <a:prstGeom prst="ellipse">
            <a:avLst/>
          </a:prstGeom>
          <a:solidFill>
            <a:srgbClr val="FD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61320" y="457200"/>
            <a:ext cx="11430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0" i="0">
                <a:solidFill>
                  <a:srgbClr val="243140"/>
                </a:solidFill>
                <a:latin typeface="Segoe UI"/>
              </a:rPr>
              <a:t>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96926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1E2A38"/>
                </a:solidFill>
                <a:latin typeface="Segoe UI"/>
              </a:rPr>
              <a:t>Tools &amp; Technologies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70432"/>
            <a:ext cx="2286000" cy="82296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Python 3 + Django 6.0.5 (MVT framework).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Django REST Framework (JSON API).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SQLite database.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Bootstrap 5 + HTML (frontend).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Pillow (image uploads).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Git &amp; GitHub, deployed on PythonAnywhere.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00800"/>
            <a:ext cx="11201400" cy="17780"/>
          </a:xfrm>
          <a:prstGeom prst="rect">
            <a:avLst/>
          </a:prstGeom>
          <a:solidFill>
            <a:srgbClr val="DD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8A97A5"/>
                </a:solidFill>
                <a:latin typeface="Segoe UI"/>
              </a:rPr>
              <a:t>BistroSaaS  |  Restaurant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8A97A5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61320" y="411480"/>
            <a:ext cx="1143000" cy="1143000"/>
          </a:xfrm>
          <a:prstGeom prst="ellipse">
            <a:avLst/>
          </a:prstGeom>
          <a:solidFill>
            <a:srgbClr val="FD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61320" y="457200"/>
            <a:ext cx="11430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0" i="0">
                <a:solidFill>
                  <a:srgbClr val="243140"/>
                </a:solidFill>
                <a:latin typeface="Segoe UI"/>
              </a:rPr>
              <a:t>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96926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1E2A38"/>
                </a:solidFill>
                <a:latin typeface="Segoe UI"/>
              </a:rPr>
              <a:t>System Architecture (MVT)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70432"/>
            <a:ext cx="2286000" cy="82296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Model (models.py)  -  database tables.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View (views.py)  -  page logic (FBV + CBV).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Template (HTML)  -  Bootstrap pages shown to user.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URLs (urls.py)  -  map addresses to views.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Flow:  URL  -&gt;  View  -&gt;  Model (data)  -&gt;  Template  -&gt;  Browser.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00800"/>
            <a:ext cx="11201400" cy="17780"/>
          </a:xfrm>
          <a:prstGeom prst="rect">
            <a:avLst/>
          </a:prstGeom>
          <a:solidFill>
            <a:srgbClr val="DD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8A97A5"/>
                </a:solidFill>
                <a:latin typeface="Segoe UI"/>
              </a:rPr>
              <a:t>BistroSaaS  |  Restaurant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8A97A5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61320" y="411480"/>
            <a:ext cx="1143000" cy="1143000"/>
          </a:xfrm>
          <a:prstGeom prst="ellipse">
            <a:avLst/>
          </a:prstGeom>
          <a:solidFill>
            <a:srgbClr val="FD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61320" y="457200"/>
            <a:ext cx="11430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0" i="0">
                <a:solidFill>
                  <a:srgbClr val="243140"/>
                </a:solidFill>
                <a:latin typeface="Segoe UI"/>
              </a:rPr>
              <a:t>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96926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1E2A38"/>
                </a:solidFill>
                <a:latin typeface="Segoe UI"/>
              </a:rPr>
              <a:t>User Roles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70432"/>
            <a:ext cx="2286000" cy="82296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Guest  -  browse menu &amp; read API only.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Customer  -  place orders, view history, edit profile.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Admin (superuser)  -  full menu &amp; order management + Django admin.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Admin sign-up is protected by a secret key.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00800"/>
            <a:ext cx="11201400" cy="17780"/>
          </a:xfrm>
          <a:prstGeom prst="rect">
            <a:avLst/>
          </a:prstGeom>
          <a:solidFill>
            <a:srgbClr val="DD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8A97A5"/>
                </a:solidFill>
                <a:latin typeface="Segoe UI"/>
              </a:rPr>
              <a:t>BistroSaaS  |  Restaurant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8A97A5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61320" y="411480"/>
            <a:ext cx="1143000" cy="1143000"/>
          </a:xfrm>
          <a:prstGeom prst="ellipse">
            <a:avLst/>
          </a:prstGeom>
          <a:solidFill>
            <a:srgbClr val="FD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61320" y="457200"/>
            <a:ext cx="11430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0" i="0">
                <a:solidFill>
                  <a:srgbClr val="243140"/>
                </a:solidFill>
                <a:latin typeface="Segoe UI"/>
              </a:rPr>
              <a:t>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96926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1E2A38"/>
                </a:solidFill>
                <a:latin typeface="Segoe UI"/>
              </a:rPr>
              <a:t>Database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70432"/>
            <a:ext cx="2286000" cy="82296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6126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4 main tables + Django User.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User  1-1  CustomerProfile.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User  1-M  Order.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Category  1-M  MenuItem.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Order  M-N  MenuItem.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1508760"/>
            <a:ext cx="4937760" cy="4480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377440"/>
            <a:ext cx="4663440" cy="315910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6400800"/>
            <a:ext cx="11201400" cy="17780"/>
          </a:xfrm>
          <a:prstGeom prst="rect">
            <a:avLst/>
          </a:prstGeom>
          <a:solidFill>
            <a:srgbClr val="DD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8A97A5"/>
                </a:solidFill>
                <a:latin typeface="Segoe UI"/>
              </a:rPr>
              <a:t>BistroSaaS  |  Restaurant Management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8A97A5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61320" y="411480"/>
            <a:ext cx="1143000" cy="1143000"/>
          </a:xfrm>
          <a:prstGeom prst="ellipse">
            <a:avLst/>
          </a:prstGeom>
          <a:solidFill>
            <a:srgbClr val="FD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61320" y="457200"/>
            <a:ext cx="11430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0" i="0">
                <a:solidFill>
                  <a:srgbClr val="243140"/>
                </a:solidFill>
                <a:latin typeface="Segoe UI"/>
              </a:rPr>
              <a:t>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96926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1E2A38"/>
                </a:solidFill>
                <a:latin typeface="Segoe UI"/>
              </a:rPr>
              <a:t>Features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70432"/>
            <a:ext cx="2286000" cy="82296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Authentication with two roles.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Menu browsing: search, filter, pagination.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Menu CRUD with image uploads (admin).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Online ordering with live total.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Order confirmation &amp; notifications.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User profiles + REST API.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00800"/>
            <a:ext cx="11201400" cy="17780"/>
          </a:xfrm>
          <a:prstGeom prst="rect">
            <a:avLst/>
          </a:prstGeom>
          <a:solidFill>
            <a:srgbClr val="DD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8A97A5"/>
                </a:solidFill>
                <a:latin typeface="Segoe UI"/>
              </a:rPr>
              <a:t>BistroSaaS  |  Restaurant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8A97A5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61320" y="411480"/>
            <a:ext cx="1143000" cy="1143000"/>
          </a:xfrm>
          <a:prstGeom prst="ellipse">
            <a:avLst/>
          </a:prstGeom>
          <a:solidFill>
            <a:srgbClr val="FD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61320" y="457200"/>
            <a:ext cx="11430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0" i="0">
                <a:solidFill>
                  <a:srgbClr val="243140"/>
                </a:solidFill>
                <a:latin typeface="Segoe UI"/>
              </a:rPr>
              <a:t>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96926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1E2A38"/>
                </a:solidFill>
                <a:latin typeface="Segoe UI"/>
              </a:rPr>
              <a:t>Authentication &amp; Roles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70432"/>
            <a:ext cx="2286000" cy="82296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Register, Login, Logout (Django auth).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Role dropdown: Customer (default) or Admin.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Admin requires Secret Key (admin123).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Profile auto-created for every user (signal).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00800"/>
            <a:ext cx="11201400" cy="17780"/>
          </a:xfrm>
          <a:prstGeom prst="rect">
            <a:avLst/>
          </a:prstGeom>
          <a:solidFill>
            <a:srgbClr val="DD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8A97A5"/>
                </a:solidFill>
                <a:latin typeface="Segoe UI"/>
              </a:rPr>
              <a:t>BistroSaaS  |  Restaurant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8A97A5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61320" y="411480"/>
            <a:ext cx="1143000" cy="1143000"/>
          </a:xfrm>
          <a:prstGeom prst="ellipse">
            <a:avLst/>
          </a:prstGeom>
          <a:solidFill>
            <a:srgbClr val="FD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61320" y="457200"/>
            <a:ext cx="11430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0" i="0">
                <a:solidFill>
                  <a:srgbClr val="243140"/>
                </a:solidFill>
                <a:latin typeface="Segoe UI"/>
              </a:rPr>
              <a:t>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96926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1E2A38"/>
                </a:solidFill>
                <a:latin typeface="Segoe UI"/>
              </a:rPr>
              <a:t>Menu Management (CRUD)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70432"/>
            <a:ext cx="2286000" cy="82296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Admins add / edit / delete menu items.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Image upload for each dish (Pillow).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Items grouped by category.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Class-Based Views + access control (admin only).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00800"/>
            <a:ext cx="11201400" cy="17780"/>
          </a:xfrm>
          <a:prstGeom prst="rect">
            <a:avLst/>
          </a:prstGeom>
          <a:solidFill>
            <a:srgbClr val="DD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8A97A5"/>
                </a:solidFill>
                <a:latin typeface="Segoe UI"/>
              </a:rPr>
              <a:t>BistroSaaS  |  Restaurant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8A97A5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61320" y="411480"/>
            <a:ext cx="1143000" cy="1143000"/>
          </a:xfrm>
          <a:prstGeom prst="ellipse">
            <a:avLst/>
          </a:prstGeom>
          <a:solidFill>
            <a:srgbClr val="FD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61320" y="457200"/>
            <a:ext cx="11430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0" i="0">
                <a:solidFill>
                  <a:srgbClr val="243140"/>
                </a:solidFill>
                <a:latin typeface="Segoe UI"/>
              </a:rPr>
              <a:t>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96926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1E2A38"/>
                </a:solidFill>
                <a:latin typeface="Segoe UI"/>
              </a:rPr>
              <a:t>Search, Filter &amp; Pagination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70432"/>
            <a:ext cx="2286000" cy="82296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Search dishes by name or description (?q=).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Filter by category buttons (?category=).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6 items per page with Previous / Next controls.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Implemented in MenuListView.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00800"/>
            <a:ext cx="11201400" cy="17780"/>
          </a:xfrm>
          <a:prstGeom prst="rect">
            <a:avLst/>
          </a:prstGeom>
          <a:solidFill>
            <a:srgbClr val="DD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8A97A5"/>
                </a:solidFill>
                <a:latin typeface="Segoe UI"/>
              </a:rPr>
              <a:t>BistroSaaS  |  Restaurant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8A97A5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61320" y="411480"/>
            <a:ext cx="1143000" cy="1143000"/>
          </a:xfrm>
          <a:prstGeom prst="ellipse">
            <a:avLst/>
          </a:prstGeom>
          <a:solidFill>
            <a:srgbClr val="FD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61320" y="457200"/>
            <a:ext cx="11430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0" i="0">
                <a:solidFill>
                  <a:srgbClr val="243140"/>
                </a:solidFill>
                <a:latin typeface="Segoe UI"/>
              </a:rPr>
              <a:t>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96926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1E2A38"/>
                </a:solidFill>
                <a:latin typeface="Segoe UI"/>
              </a:rPr>
              <a:t>Order Placement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70432"/>
            <a:ext cx="2286000" cy="82296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Customer selects items with checkboxes.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Live JavaScript total updates instantly.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Server recomputes the real total on submit.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Order saved with status = Pending.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00800"/>
            <a:ext cx="11201400" cy="17780"/>
          </a:xfrm>
          <a:prstGeom prst="rect">
            <a:avLst/>
          </a:prstGeom>
          <a:solidFill>
            <a:srgbClr val="DD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8A97A5"/>
                </a:solidFill>
                <a:latin typeface="Segoe UI"/>
              </a:rPr>
              <a:t>BistroSaaS  |  Restaurant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8A97A5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61320" y="411480"/>
            <a:ext cx="1143000" cy="1143000"/>
          </a:xfrm>
          <a:prstGeom prst="ellipse">
            <a:avLst/>
          </a:prstGeom>
          <a:solidFill>
            <a:srgbClr val="FD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61320" y="457200"/>
            <a:ext cx="11430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0" i="0">
                <a:solidFill>
                  <a:srgbClr val="243140"/>
                </a:solidFill>
                <a:latin typeface="Segoe UI"/>
              </a:rPr>
              <a:t>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96926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1E2A38"/>
                </a:solidFill>
                <a:latin typeface="Segoe UI"/>
              </a:rPr>
              <a:t>Order Confirmation &amp; Notifications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70432"/>
            <a:ext cx="2286000" cy="82296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Admin updates status: Pending -&gt; Preparing -&gt; Completed / Cancelled.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Customer gets a red notification badge.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Updated orders highlighted on 'My Orders'.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Badge clears when the customer views orders.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00800"/>
            <a:ext cx="11201400" cy="17780"/>
          </a:xfrm>
          <a:prstGeom prst="rect">
            <a:avLst/>
          </a:prstGeom>
          <a:solidFill>
            <a:srgbClr val="DD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8A97A5"/>
                </a:solidFill>
                <a:latin typeface="Segoe UI"/>
              </a:rPr>
              <a:t>BistroSaaS  |  Restaurant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8A97A5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61320" y="411480"/>
            <a:ext cx="1143000" cy="1143000"/>
          </a:xfrm>
          <a:prstGeom prst="ellipse">
            <a:avLst/>
          </a:prstGeom>
          <a:solidFill>
            <a:srgbClr val="FD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61320" y="457200"/>
            <a:ext cx="11430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0" i="0">
                <a:solidFill>
                  <a:srgbClr val="243140"/>
                </a:solidFill>
                <a:latin typeface="Segoe UI"/>
              </a:rPr>
              <a:t>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96926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1E2A38"/>
                </a:solidFill>
                <a:latin typeface="Segoe UI"/>
              </a:rPr>
              <a:t>User Profile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70432"/>
            <a:ext cx="2286000" cy="82296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Edit first name, last name, email.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Edit phone, address, profile picture.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Change password (new + confirm).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Accessible from the navbar profile dropdown.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00800"/>
            <a:ext cx="11201400" cy="17780"/>
          </a:xfrm>
          <a:prstGeom prst="rect">
            <a:avLst/>
          </a:prstGeom>
          <a:solidFill>
            <a:srgbClr val="DD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8A97A5"/>
                </a:solidFill>
                <a:latin typeface="Segoe UI"/>
              </a:rPr>
              <a:t>BistroSaaS  |  Restaurant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8A97A5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61320" y="411480"/>
            <a:ext cx="1143000" cy="1143000"/>
          </a:xfrm>
          <a:prstGeom prst="ellipse">
            <a:avLst/>
          </a:prstGeom>
          <a:solidFill>
            <a:srgbClr val="FD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61320" y="457200"/>
            <a:ext cx="11430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0" i="0">
                <a:solidFill>
                  <a:srgbClr val="243140"/>
                </a:solidFill>
                <a:latin typeface="Segoe UI"/>
              </a:rPr>
              <a:t>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96926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1E2A38"/>
                </a:solidFill>
                <a:latin typeface="Segoe UI"/>
              </a:rPr>
              <a:t>REST API (Bonus)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70432"/>
            <a:ext cx="2286000" cy="82296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Built with Django REST Framework.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GET /api/menu/  -  list all items as JSON.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GET /api/menu/&lt;id&gt;/  -  single item.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Browsable API in the browser.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Permission: read for all, write for logged-in users.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00800"/>
            <a:ext cx="11201400" cy="17780"/>
          </a:xfrm>
          <a:prstGeom prst="rect">
            <a:avLst/>
          </a:prstGeom>
          <a:solidFill>
            <a:srgbClr val="DD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8A97A5"/>
                </a:solidFill>
                <a:latin typeface="Segoe UI"/>
              </a:rPr>
              <a:t>BistroSaaS  |  Restaurant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8A97A5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61320" y="411480"/>
            <a:ext cx="1143000" cy="1143000"/>
          </a:xfrm>
          <a:prstGeom prst="ellipse">
            <a:avLst/>
          </a:prstGeom>
          <a:solidFill>
            <a:srgbClr val="FD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61320" y="457200"/>
            <a:ext cx="11430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0" i="0">
                <a:solidFill>
                  <a:srgbClr val="243140"/>
                </a:solidFill>
                <a:latin typeface="Segoe UI"/>
              </a:rPr>
              <a:t>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96926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1E2A38"/>
                </a:solidFill>
                <a:latin typeface="Segoe UI"/>
              </a:rPr>
              <a:t>Django Admin Panel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70432"/>
            <a:ext cx="2286000" cy="82296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Manage Users, Categories, Menu Items, Orders.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Search, filters, and inline editing.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Custom red 'Cancel' button on all forms.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Admins cannot see / delete their own account.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00800"/>
            <a:ext cx="11201400" cy="17780"/>
          </a:xfrm>
          <a:prstGeom prst="rect">
            <a:avLst/>
          </a:prstGeom>
          <a:solidFill>
            <a:srgbClr val="DD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8A97A5"/>
                </a:solidFill>
                <a:latin typeface="Segoe UI"/>
              </a:rPr>
              <a:t>BistroSaaS  |  Restaurant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8A97A5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61320" y="411480"/>
            <a:ext cx="1143000" cy="1143000"/>
          </a:xfrm>
          <a:prstGeom prst="ellipse">
            <a:avLst/>
          </a:prstGeom>
          <a:solidFill>
            <a:srgbClr val="FD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61320" y="457200"/>
            <a:ext cx="11430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0" i="0">
                <a:solidFill>
                  <a:srgbClr val="243140"/>
                </a:solidFill>
                <a:latin typeface="Segoe UI"/>
              </a:rPr>
              <a:t>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96926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1E2A38"/>
                </a:solidFill>
                <a:latin typeface="Segoe UI"/>
              </a:rPr>
              <a:t>Version Control &amp; Deployment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70432"/>
            <a:ext cx="2286000" cy="82296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Source code hosted on GitHub.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Live deployment on PythonAnywhere.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Steps: clone -&gt; venv -&gt; install -&gt; migrate -&gt; configure web app.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FF6B35"/>
                </a:solidFill>
                <a:latin typeface="Segoe UI"/>
              </a:rPr>
              <a:t>▸  </a:t>
            </a:r>
            <a:r>
              <a:rPr sz="2000" b="0" i="0">
                <a:solidFill>
                  <a:srgbClr val="243140"/>
                </a:solidFill>
                <a:latin typeface="Segoe UI"/>
              </a:rPr>
              <a:t>Live URL: mussa.pythonanywhere.com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00800"/>
            <a:ext cx="11201400" cy="17780"/>
          </a:xfrm>
          <a:prstGeom prst="rect">
            <a:avLst/>
          </a:prstGeom>
          <a:solidFill>
            <a:srgbClr val="DD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8A97A5"/>
                </a:solidFill>
                <a:latin typeface="Segoe UI"/>
              </a:rPr>
              <a:t>BistroSaaS  |  Restaurant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8A97A5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3931920"/>
            <a:ext cx="2926080" cy="2926080"/>
          </a:xfrm>
          <a:prstGeom prst="ellipse">
            <a:avLst/>
          </a:prstGeom>
          <a:noFill/>
          <a:ln w="317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0" i="0">
                <a:solidFill>
                  <a:srgbClr val="FFFFFF"/>
                </a:solidFill>
                <a:latin typeface="Segoe UI"/>
              </a:rPr>
              <a:t>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Segoe UI"/>
              </a:rPr>
              <a:t>Conclusion</a:t>
            </a:r>
          </a:p>
          <a:p>
            <a:r>
              <a:rPr sz="3000" b="1" i="0">
                <a:solidFill>
                  <a:srgbClr val="FFFFFF"/>
                </a:solidFill>
                <a:latin typeface="Segoe UI"/>
              </a:rPr>
              <a:t>Thank You!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160520"/>
            <a:ext cx="2743200" cy="914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 i="0">
                <a:solidFill>
                  <a:srgbClr val="D7DEE5"/>
                </a:solidFill>
                <a:latin typeface="Segoe UI"/>
              </a:rPr>
              <a:t>A complete full-stack Django app  -  live demonstration to follow.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212080"/>
            <a:ext cx="3200400" cy="5029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QUESTIONS  &amp; 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